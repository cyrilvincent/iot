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2"/>
  </p:notesMasterIdLst>
  <p:handoutMasterIdLst>
    <p:handoutMasterId r:id="rId23"/>
  </p:handoutMasterIdLst>
  <p:sldIdLst>
    <p:sldId id="264" r:id="rId2"/>
    <p:sldId id="270" r:id="rId3"/>
    <p:sldId id="287" r:id="rId4"/>
    <p:sldId id="286" r:id="rId5"/>
    <p:sldId id="269" r:id="rId6"/>
    <p:sldId id="277" r:id="rId7"/>
    <p:sldId id="271" r:id="rId8"/>
    <p:sldId id="284" r:id="rId9"/>
    <p:sldId id="285" r:id="rId10"/>
    <p:sldId id="272" r:id="rId11"/>
    <p:sldId id="266" r:id="rId12"/>
    <p:sldId id="273" r:id="rId13"/>
    <p:sldId id="274" r:id="rId14"/>
    <p:sldId id="289" r:id="rId15"/>
    <p:sldId id="293" r:id="rId16"/>
    <p:sldId id="265" r:id="rId17"/>
    <p:sldId id="276" r:id="rId18"/>
    <p:sldId id="291" r:id="rId19"/>
    <p:sldId id="292" r:id="rId20"/>
    <p:sldId id="290" r:id="rId2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tinkercad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/>
              <a:t>ESP32</a:t>
            </a:r>
          </a:p>
          <a:p>
            <a:pPr eaLnBrk="1" hangingPunct="1"/>
            <a:endParaRPr lang="fr-FR" altLang="fr-FR" dirty="0"/>
          </a:p>
          <a:p>
            <a:pPr eaLnBrk="1" hangingPunct="1"/>
            <a:endParaRPr lang="fr-FR" alt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0D987BA-6C35-AF8F-A365-245494B52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544" y="2636912"/>
            <a:ext cx="1918912" cy="35118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76E6B9-72E9-7078-0900-45A006F6C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ESP32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DCD56A-AF23-709B-56C9-91F3B6F52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ESP32 est une série de microcontrôleurs de type </a:t>
            </a:r>
            <a:r>
              <a:rPr lang="fr-FR" dirty="0" err="1"/>
              <a:t>SoC</a:t>
            </a:r>
            <a:r>
              <a:rPr lang="fr-FR" dirty="0"/>
              <a:t> d'</a:t>
            </a:r>
            <a:r>
              <a:rPr lang="fr-FR" dirty="0" err="1"/>
              <a:t>Espressif</a:t>
            </a:r>
            <a:r>
              <a:rPr lang="fr-FR" dirty="0"/>
              <a:t> </a:t>
            </a:r>
            <a:r>
              <a:rPr lang="fr-FR" dirty="0" err="1"/>
              <a:t>Systems</a:t>
            </a:r>
            <a:r>
              <a:rPr lang="fr-FR" dirty="0"/>
              <a:t> (China)</a:t>
            </a:r>
          </a:p>
          <a:p>
            <a:pPr lvl="1"/>
            <a:r>
              <a:rPr lang="fr-FR" dirty="0"/>
              <a:t>Basé sur l'architecture </a:t>
            </a:r>
            <a:r>
              <a:rPr lang="fr-FR" dirty="0" err="1"/>
              <a:t>Xtensa</a:t>
            </a:r>
            <a:r>
              <a:rPr lang="fr-FR" dirty="0"/>
              <a:t> LX6 de </a:t>
            </a:r>
            <a:r>
              <a:rPr lang="fr-FR" dirty="0" err="1"/>
              <a:t>Tensilica</a:t>
            </a:r>
            <a:r>
              <a:rPr lang="fr-FR" dirty="0"/>
              <a:t>, intégrant la gestion du Wi-Fi du Bluetooth (BT &amp; LE) et un DSP</a:t>
            </a:r>
          </a:p>
          <a:p>
            <a:pPr lvl="1"/>
            <a:r>
              <a:rPr lang="fr-FR" dirty="0"/>
              <a:t>C'est une évolution d'ESP8266</a:t>
            </a:r>
          </a:p>
          <a:p>
            <a:pPr lvl="1"/>
            <a:r>
              <a:rPr lang="fr-FR" dirty="0"/>
              <a:t>2016</a:t>
            </a:r>
          </a:p>
          <a:p>
            <a:pPr lvl="1"/>
            <a:r>
              <a:rPr lang="fr-FR" dirty="0"/>
              <a:t>272Ko de RAM (contre 32Ko pour Arduino)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A5569F-3A96-C141-588F-77CB69AD7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496263" y="3713258"/>
            <a:ext cx="1918912" cy="351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21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9483-785A-E554-EF06-EF9C776E0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5F3BEC-A495-C111-C048-2CC9FB52B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ESP8266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B804D1-B4D0-618B-9DAA-185151088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816424" cy="5040560"/>
          </a:xfrm>
        </p:spPr>
        <p:txBody>
          <a:bodyPr/>
          <a:lstStyle/>
          <a:p>
            <a:r>
              <a:rPr lang="fr-FR" dirty="0"/>
              <a:t>Ancêtre de l'ESP8266</a:t>
            </a:r>
          </a:p>
          <a:p>
            <a:r>
              <a:rPr lang="fr-FR" dirty="0"/>
              <a:t>Pas de Bluetooth</a:t>
            </a:r>
          </a:p>
          <a:p>
            <a:r>
              <a:rPr lang="fr-FR" dirty="0"/>
              <a:t>2013</a:t>
            </a:r>
          </a:p>
        </p:txBody>
      </p:sp>
      <p:pic>
        <p:nvPicPr>
          <p:cNvPr id="1026" name="Picture 2" descr="NodeMCU Lua Amica Module V2 ESP8266 ESP-12F WIFI Wifi Development Board  avec CP2102">
            <a:extLst>
              <a:ext uri="{FF2B5EF4-FFF2-40B4-BE49-F238E27FC236}">
                <a16:creationId xmlns:a16="http://schemas.microsoft.com/office/drawing/2014/main" id="{A74BE474-BA75-1B94-637A-D94CDD662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257" y="1282452"/>
            <a:ext cx="4293096" cy="429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964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E53F8B-0471-7C3B-9524-101347C7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Nombreux formats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D469A51-65AA-A713-7C7C-90380A7C0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9" y="1869200"/>
            <a:ext cx="2317572" cy="259704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550E6A4-5728-19FE-FB88-C8C595E5A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3167722"/>
            <a:ext cx="3406937" cy="284722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39D4734-D83D-E006-025E-C61169ADD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4509120"/>
            <a:ext cx="2799671" cy="194421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CFBFD8B-3A45-8960-998E-1AB3B2642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597" y="1512705"/>
            <a:ext cx="2132805" cy="2597043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330309-5AF3-7D85-BDF8-7387E03CF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2697" y="1340768"/>
            <a:ext cx="3816424" cy="5040560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Nous utiliserons le format </a:t>
            </a:r>
            <a:r>
              <a:rPr lang="fr-FR" dirty="0" err="1"/>
              <a:t>NodeMCU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3429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4B801-261B-7C77-806F-7734A98FD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ESP32</a:t>
            </a:r>
          </a:p>
        </p:txBody>
      </p:sp>
      <p:pic>
        <p:nvPicPr>
          <p:cNvPr id="5" name="Espace réservé du contenu 4" descr="Une image contenant Appareils électroniques, Ingénierie électronique, circuit, Composant électronique&#10;&#10;Le contenu généré par l’IA peut être incorrect.">
            <a:extLst>
              <a:ext uri="{FF2B5EF4-FFF2-40B4-BE49-F238E27FC236}">
                <a16:creationId xmlns:a16="http://schemas.microsoft.com/office/drawing/2014/main" id="{26CFDBA8-CBE1-DFDF-7171-998EA337E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931985" y="-906746"/>
            <a:ext cx="5977661" cy="10103571"/>
          </a:xfrm>
        </p:spPr>
      </p:pic>
    </p:spTree>
    <p:extLst>
      <p:ext uri="{BB962C8B-B14F-4D97-AF65-F5344CB8AC3E}">
        <p14:creationId xmlns:p14="http://schemas.microsoft.com/office/powerpoint/2010/main" val="4044039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B7DC3F-8D62-6DCF-ED04-0B189B689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Alimentation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8A7568-E740-6FA4-ECDF-2C55071A6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 USB 5v</a:t>
            </a:r>
          </a:p>
          <a:p>
            <a:pPr lvl="1"/>
            <a:r>
              <a:rPr lang="fr-FR" dirty="0"/>
              <a:t>VIN vaut alors 5v</a:t>
            </a:r>
          </a:p>
          <a:p>
            <a:r>
              <a:rPr lang="fr-FR" dirty="0"/>
              <a:t>Par VIN 6v à 9v</a:t>
            </a:r>
          </a:p>
          <a:p>
            <a:pPr lvl="1"/>
            <a:r>
              <a:rPr lang="fr-FR" dirty="0"/>
              <a:t>Ne pas brancher en même temps VIN &amp; USB</a:t>
            </a:r>
          </a:p>
          <a:p>
            <a:pPr lvl="1"/>
            <a:r>
              <a:rPr lang="fr-FR" dirty="0"/>
              <a:t>En entrée ET sortie</a:t>
            </a:r>
          </a:p>
          <a:p>
            <a:r>
              <a:rPr lang="fr-FR" dirty="0"/>
              <a:t>Entrées - Sorties</a:t>
            </a:r>
          </a:p>
          <a:p>
            <a:pPr lvl="1"/>
            <a:r>
              <a:rPr lang="fr-FR" dirty="0"/>
              <a:t>Pin 3.3v</a:t>
            </a:r>
          </a:p>
          <a:p>
            <a:r>
              <a:rPr lang="fr-FR" dirty="0"/>
              <a:t>Les tensions ne peuvent pas excéder 3.3v</a:t>
            </a:r>
          </a:p>
          <a:p>
            <a:pPr lvl="1"/>
            <a:r>
              <a:rPr lang="fr-FR" dirty="0"/>
              <a:t>Il y a des protections thermiques à chaque pin</a:t>
            </a:r>
          </a:p>
          <a:p>
            <a:pPr lvl="1"/>
            <a:r>
              <a:rPr lang="fr-FR" dirty="0"/>
              <a:t>Il y a des protections de polarité</a:t>
            </a:r>
          </a:p>
          <a:p>
            <a:pPr lvl="1"/>
            <a:r>
              <a:rPr lang="fr-FR" dirty="0"/>
              <a:t>Faire attention !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455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496E42-5DDB-036D-E3E7-F635A8B1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Spécification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6AB227-5E0F-EAC0-A045-59CCB95C5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2 </a:t>
            </a:r>
            <a:r>
              <a:rPr lang="fr-FR" dirty="0" err="1"/>
              <a:t>Cores</a:t>
            </a:r>
            <a:r>
              <a:rPr lang="fr-FR" dirty="0"/>
              <a:t> 32 bits 240MHz</a:t>
            </a:r>
          </a:p>
          <a:p>
            <a:r>
              <a:rPr lang="fr-FR" dirty="0"/>
              <a:t>Wifi</a:t>
            </a:r>
          </a:p>
          <a:p>
            <a:r>
              <a:rPr lang="fr-FR" dirty="0"/>
              <a:t>Bluetooth (</a:t>
            </a:r>
            <a:r>
              <a:rPr lang="fr-FR" dirty="0" err="1"/>
              <a:t>Legacy</a:t>
            </a:r>
            <a:r>
              <a:rPr lang="fr-FR" dirty="0"/>
              <a:t> &amp; LE)</a:t>
            </a:r>
          </a:p>
          <a:p>
            <a:r>
              <a:rPr lang="fr-FR" dirty="0"/>
              <a:t>512Ko RAM</a:t>
            </a:r>
          </a:p>
          <a:p>
            <a:r>
              <a:rPr lang="fr-FR" dirty="0"/>
              <a:t>3.3V</a:t>
            </a:r>
          </a:p>
          <a:p>
            <a:r>
              <a:rPr lang="fr-FR" dirty="0"/>
              <a:t>Pins : GPIO ~=30 </a:t>
            </a:r>
            <a:r>
              <a:rPr lang="fr-FR" dirty="0" err="1"/>
              <a:t>Analog</a:t>
            </a:r>
            <a:r>
              <a:rPr lang="fr-FR" dirty="0"/>
              <a:t>, Digital &amp; PWM</a:t>
            </a:r>
          </a:p>
          <a:p>
            <a:r>
              <a:rPr lang="fr-FR" dirty="0"/>
              <a:t>Bus : I2C, ADC, DAC, UART, CAN, I2S, RMII</a:t>
            </a:r>
          </a:p>
          <a:p>
            <a:r>
              <a:rPr lang="fr-FR" dirty="0"/>
              <a:t>UART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5861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945D59-366A-FF51-726E-206581DEF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TTL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8D8693-35D5-4C76-EB01-D6B9260DC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5832648" cy="5040560"/>
          </a:xfrm>
        </p:spPr>
        <p:txBody>
          <a:bodyPr/>
          <a:lstStyle/>
          <a:p>
            <a:r>
              <a:rPr lang="fr-FR" dirty="0"/>
              <a:t>Transistor – Transistor Logic</a:t>
            </a:r>
          </a:p>
          <a:p>
            <a:r>
              <a:rPr lang="fr-FR" dirty="0"/>
              <a:t>Les circuits TTL sont des transistors dont le niveau bas est à 0v et le niveau haut à 5V</a:t>
            </a:r>
          </a:p>
          <a:p>
            <a:r>
              <a:rPr lang="fr-FR" dirty="0"/>
              <a:t>Le seuil de déclenchement d'un TTL est souvent compris entre 2v et 3v</a:t>
            </a:r>
          </a:p>
          <a:p>
            <a:r>
              <a:rPr lang="fr-FR" dirty="0"/>
              <a:t>L'ESP32 n'est pas vraiment compatible TTL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0E5B7B-152C-6C38-A4C3-2982A4D06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210" y="2666054"/>
            <a:ext cx="2495898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75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F2AD59-1110-3B4C-12E9-260F54523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LLC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032F97-99F5-8834-B625-25E1437EB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Logic </a:t>
            </a:r>
            <a:r>
              <a:rPr lang="fr-FR" dirty="0" err="1"/>
              <a:t>Level</a:t>
            </a:r>
            <a:r>
              <a:rPr lang="fr-FR" dirty="0"/>
              <a:t> Converter 3.3v 5v</a:t>
            </a:r>
          </a:p>
          <a:p>
            <a:pPr lvl="1"/>
            <a:r>
              <a:rPr lang="fr-FR" dirty="0"/>
              <a:t>Convertit du 3.3v en 5v</a:t>
            </a:r>
          </a:p>
          <a:p>
            <a:pPr lvl="1"/>
            <a:r>
              <a:rPr lang="fr-FR" dirty="0"/>
              <a:t>Pour être complètement compatible TTL</a:t>
            </a:r>
          </a:p>
          <a:p>
            <a:pPr lvl="1"/>
            <a:r>
              <a:rPr lang="fr-FR" dirty="0"/>
              <a:t>Utilisé nativement dans l'Arduino mais pas dans l'ESP32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19A137C-C6C1-823E-C87D-49DCD02D1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33" y="3366462"/>
            <a:ext cx="3025379" cy="228531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E48C32D-81D5-A5C8-F2A9-4A18E0B70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537" y="3948263"/>
            <a:ext cx="3517739" cy="136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268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C7E082-B2D7-EF88-FDBE-42232CE0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Wroom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47250-89AA-A55E-BA10-CDCF2E148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VIN = 5V - CP2102 = UART - BOOT = </a:t>
            </a:r>
            <a:r>
              <a:rPr lang="fr-FR" sz="2400" dirty="0" err="1"/>
              <a:t>Flashing</a:t>
            </a:r>
            <a:r>
              <a:rPr lang="fr-FR" sz="2400" dirty="0"/>
              <a:t> mode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A001429-1990-FE32-EA5C-E17CA0B40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0283"/>
            <a:ext cx="9144000" cy="487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447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17D6C2-4C06-83C1-878A-ED00C25F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GPIO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880FA4-90EB-82EE-AB48-C87B5633E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6151C27-EEDF-24CA-DA69-208CDFEE1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0728"/>
            <a:ext cx="9144000" cy="555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53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AB94E6-8F56-C471-88D2-20F79849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GPIO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FD3090-62D6-C7E8-956B-E506D8FCF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2EEB6B6-0443-EA92-5FB6-85150F7F4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3" y="1065945"/>
            <a:ext cx="5205022" cy="579205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F722A31-90F4-7BC3-0067-516DB8ECE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597" y="1028937"/>
            <a:ext cx="4211960" cy="580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98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CE7A37-910E-B1FE-0765-95A2C56A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PWM &amp; I2C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D30AEA-00E5-BE99-AB47-F1F6A38DE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Tous les pins disponibles en output peuvent être mis en PWM</a:t>
            </a:r>
          </a:p>
          <a:p>
            <a:r>
              <a:rPr lang="it-IT" dirty="0"/>
              <a:t>I2C</a:t>
            </a:r>
          </a:p>
          <a:p>
            <a:pPr lvl="1"/>
            <a:r>
              <a:rPr lang="it-IT" dirty="0"/>
              <a:t>GPIO 21 (SDA)</a:t>
            </a:r>
          </a:p>
          <a:p>
            <a:pPr lvl="1"/>
            <a:r>
              <a:rPr lang="it-IT" dirty="0"/>
              <a:t>GPIO 22 (SCL)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3653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Seeeduino</a:t>
            </a:r>
            <a:r>
              <a:rPr lang="fr-FR" dirty="0"/>
              <a:t> Grove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Branchement facile par connecteur</a:t>
            </a:r>
          </a:p>
          <a:p>
            <a:pPr lvl="1"/>
            <a:r>
              <a:rPr lang="fr-FR" dirty="0"/>
              <a:t>Les résistances sont déjà calculées</a:t>
            </a:r>
          </a:p>
          <a:p>
            <a:pPr lvl="1"/>
            <a:r>
              <a:rPr lang="fr-FR" dirty="0"/>
              <a:t>Idéale pour le prototypage</a:t>
            </a:r>
          </a:p>
          <a:p>
            <a:pPr lvl="1"/>
            <a:r>
              <a:rPr lang="fr-FR" dirty="0"/>
              <a:t>Nécessite un Bridge</a:t>
            </a:r>
          </a:p>
          <a:p>
            <a:pPr lvl="1"/>
            <a:r>
              <a:rPr lang="fr-FR" dirty="0"/>
              <a:t>Nécessite des </a:t>
            </a:r>
            <a:r>
              <a:rPr lang="fr-FR" dirty="0" err="1"/>
              <a:t>devices</a:t>
            </a:r>
            <a:r>
              <a:rPr lang="fr-FR" dirty="0"/>
              <a:t> avec un branchement adapté</a:t>
            </a:r>
          </a:p>
          <a:p>
            <a:endParaRPr lang="fr-FR" dirty="0"/>
          </a:p>
        </p:txBody>
      </p:sp>
      <p:pic>
        <p:nvPicPr>
          <p:cNvPr id="6" name="Imag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07503" y="4311799"/>
            <a:ext cx="2800350" cy="210502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74C35FD-EC4F-AC97-4DD7-3624A3EDE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595" y="4077072"/>
            <a:ext cx="3129397" cy="219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667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761F1F-0979-0559-7A6C-F68EEE5B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SDK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3C7AA1-AF60-B92A-0AFE-793A315FD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Liste des SDK compatibles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E69DF00-2D9A-5EBE-4506-D4B2594D4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5071"/>
            <a:ext cx="9144000" cy="178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030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AF430F-F6A1-1B4A-8B5B-5B45861D7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Arduino Studio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9478DD-FAA2-D985-BE1B-1F13FF844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6408712" cy="5040560"/>
          </a:xfrm>
        </p:spPr>
        <p:txBody>
          <a:bodyPr/>
          <a:lstStyle/>
          <a:p>
            <a:r>
              <a:rPr lang="fr-FR" dirty="0"/>
              <a:t>Ce paramètre facilement dans Arduino Studio</a:t>
            </a:r>
          </a:p>
          <a:p>
            <a:pPr lvl="1"/>
            <a:r>
              <a:rPr lang="fr-FR" dirty="0" err="1"/>
              <a:t>Board</a:t>
            </a:r>
            <a:r>
              <a:rPr lang="fr-FR" dirty="0"/>
              <a:t> manager</a:t>
            </a:r>
          </a:p>
          <a:p>
            <a:pPr lvl="1"/>
            <a:r>
              <a:rPr lang="fr-FR" dirty="0"/>
              <a:t>ESP32 by </a:t>
            </a:r>
            <a:r>
              <a:rPr lang="fr-FR" dirty="0" err="1"/>
              <a:t>Espressif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2CF981E-E7C7-8650-D437-8EE4BB34A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24" y="1317868"/>
            <a:ext cx="2724530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85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C916DA-0DDA-76AB-84F1-273678146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Arduino Studio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292EA5-ADB6-1FD4-6115-875CFB107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SoC</a:t>
            </a:r>
            <a:r>
              <a:rPr lang="fr-FR" dirty="0"/>
              <a:t> utilisé pendant la formation est le ESP32-WROOM-DA-Module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F6D809B-03B8-EF58-4287-E515A580A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386433"/>
            <a:ext cx="6264696" cy="447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703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03FFC-CB90-5213-9085-2F08AB02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Bread</a:t>
            </a:r>
            <a:r>
              <a:rPr lang="fr-FR" dirty="0"/>
              <a:t> </a:t>
            </a:r>
            <a:r>
              <a:rPr lang="fr-FR" dirty="0" err="1"/>
              <a:t>Board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5445D6-2FAD-E126-EA73-7DDEEB6C0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03467BC-A008-CD54-71E4-8E0F97C60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58" y="1556792"/>
            <a:ext cx="7926083" cy="427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08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B11CAE-2A61-3B49-829C-40FCCA478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TinkerCard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36D472-A484-9FE8-5CE7-5262504F4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hlinkClick r:id="rId2"/>
              </a:rPr>
              <a:t>https://www.tinkercad.com</a:t>
            </a:r>
            <a:endParaRPr lang="fr-FR" dirty="0"/>
          </a:p>
          <a:p>
            <a:r>
              <a:rPr lang="fr-FR" dirty="0"/>
              <a:t>Avec les boutons suivants vous pouvez</a:t>
            </a:r>
          </a:p>
          <a:p>
            <a:pPr lvl="1"/>
            <a:r>
              <a:rPr lang="fr-FR" dirty="0"/>
              <a:t>La liste des composants (BOM – Bill of </a:t>
            </a:r>
            <a:r>
              <a:rPr lang="fr-FR" dirty="0" err="1"/>
              <a:t>Material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Le schéma électrique</a:t>
            </a:r>
          </a:p>
          <a:p>
            <a:pPr lvl="1"/>
            <a:r>
              <a:rPr lang="fr-FR" dirty="0"/>
              <a:t>Envoyer vers Fusion : permet de créer le prototype de PCB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8F79BBD-1665-438C-4327-74E1F350A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822" y="317972"/>
            <a:ext cx="2619741" cy="53347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AEF3546-A63C-BB5D-7AB7-11DA97403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280" y="1916832"/>
            <a:ext cx="1629002" cy="51442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DEF39AE-C828-06C6-E5D2-516AA6401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655" y="4064792"/>
            <a:ext cx="7452320" cy="281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66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1CD0F0-78E8-2239-1DF8-7245077B1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Industrialisation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3837FF-182B-C092-741B-DCB40FF0C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D86BE4C-A787-528F-3818-FC4E5DF80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574" y="1710922"/>
            <a:ext cx="3553321" cy="390579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8DE2B5D-04C0-BEA2-8B87-8DFB9E91C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0848"/>
            <a:ext cx="4673726" cy="32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5049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3062</TotalTime>
  <Words>371</Words>
  <Application>Microsoft Office PowerPoint</Application>
  <PresentationFormat>Affichage à l'écran (4:3)</PresentationFormat>
  <Paragraphs>81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Arial</vt:lpstr>
      <vt:lpstr>Monotype Sorts</vt:lpstr>
      <vt:lpstr>Times New Roman</vt:lpstr>
      <vt:lpstr>cvc</vt:lpstr>
      <vt:lpstr>Présentation PowerPoint</vt:lpstr>
      <vt:lpstr>ESP32</vt:lpstr>
      <vt:lpstr>ESP8266</vt:lpstr>
      <vt:lpstr>Nombreux formats</vt:lpstr>
      <vt:lpstr>ESP32</vt:lpstr>
      <vt:lpstr>Alimentation</vt:lpstr>
      <vt:lpstr>Spécification</vt:lpstr>
      <vt:lpstr>TTL</vt:lpstr>
      <vt:lpstr>LLC</vt:lpstr>
      <vt:lpstr>Wroom</vt:lpstr>
      <vt:lpstr>GPIO</vt:lpstr>
      <vt:lpstr>GPIO</vt:lpstr>
      <vt:lpstr>PWM &amp; I2C</vt:lpstr>
      <vt:lpstr>Seeeduino Grove</vt:lpstr>
      <vt:lpstr>SDK</vt:lpstr>
      <vt:lpstr>Arduino Studio</vt:lpstr>
      <vt:lpstr>Arduino Studio</vt:lpstr>
      <vt:lpstr>Bread Board</vt:lpstr>
      <vt:lpstr>TinkerCard</vt:lpstr>
      <vt:lpstr>Industrialisation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243</cp:revision>
  <dcterms:created xsi:type="dcterms:W3CDTF">2000-04-10T19:33:12Z</dcterms:created>
  <dcterms:modified xsi:type="dcterms:W3CDTF">2025-09-23T19:23:07Z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